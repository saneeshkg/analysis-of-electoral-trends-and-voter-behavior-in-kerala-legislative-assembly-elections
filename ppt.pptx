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7" r:id="rId1"/>
  </p:sldMasterIdLst>
  <p:sldIdLst>
    <p:sldId id="256" r:id="rId2"/>
    <p:sldId id="284" r:id="rId3"/>
    <p:sldId id="286" r:id="rId4"/>
    <p:sldId id="262" r:id="rId5"/>
    <p:sldId id="264" r:id="rId6"/>
    <p:sldId id="266" r:id="rId7"/>
    <p:sldId id="268" r:id="rId8"/>
    <p:sldId id="270" r:id="rId9"/>
    <p:sldId id="272" r:id="rId10"/>
    <p:sldId id="274" r:id="rId11"/>
    <p:sldId id="276" r:id="rId12"/>
    <p:sldId id="279" r:id="rId13"/>
    <p:sldId id="280" r:id="rId14"/>
    <p:sldId id="28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23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20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66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2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05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1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4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8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01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5726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99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3578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96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28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86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69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415925"/>
            <a:ext cx="9144000" cy="884238"/>
          </a:xfrm>
        </p:spPr>
        <p:txBody>
          <a:bodyPr>
            <a:normAutofit/>
          </a:bodyPr>
          <a:lstStyle/>
          <a:p>
            <a:pPr algn="ctr"/>
            <a:r>
              <a:rPr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Electoral Trends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147988" y="2210530"/>
            <a:ext cx="5216525" cy="165100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IN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Kerala legislative assembly election data to understand voting patterns, party dominance, and competition</a:t>
            </a:r>
            <a:endParaRPr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83265A-7A5A-005E-DBB5-1AD39A47D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5198" y="1397688"/>
            <a:ext cx="5676900" cy="5514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ED983-E9D5-ABB5-E2C0-95B8F5E8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project overview – electoral trends analysis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E7E22-5E72-F040-CF93-7253F3C20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u="sng" dirty="0"/>
              <a:t>What this Project is</a:t>
            </a:r>
          </a:p>
          <a:p>
            <a:r>
              <a:rPr lang="en-IN" dirty="0">
                <a:solidFill>
                  <a:srgbClr val="002060"/>
                </a:solidFill>
              </a:rPr>
              <a:t>The project </a:t>
            </a:r>
            <a:r>
              <a:rPr lang="en-IN" dirty="0" err="1">
                <a:solidFill>
                  <a:srgbClr val="002060"/>
                </a:solidFill>
              </a:rPr>
              <a:t>analyzes</a:t>
            </a:r>
            <a:r>
              <a:rPr lang="en-IN" dirty="0">
                <a:solidFill>
                  <a:srgbClr val="002060"/>
                </a:solidFill>
              </a:rPr>
              <a:t> election data to understand trends in voting, party dominance, and competition.</a:t>
            </a: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b="1" u="sng" dirty="0"/>
              <a:t>Objective</a:t>
            </a:r>
          </a:p>
          <a:p>
            <a:r>
              <a:rPr lang="en-IN" dirty="0">
                <a:solidFill>
                  <a:srgbClr val="002060"/>
                </a:solidFill>
              </a:rPr>
              <a:t>To </a:t>
            </a:r>
            <a:r>
              <a:rPr lang="en-IN" dirty="0" err="1">
                <a:solidFill>
                  <a:srgbClr val="002060"/>
                </a:solidFill>
              </a:rPr>
              <a:t>analyze</a:t>
            </a:r>
            <a:r>
              <a:rPr lang="en-IN" dirty="0">
                <a:solidFill>
                  <a:srgbClr val="002060"/>
                </a:solidFill>
              </a:rPr>
              <a:t> election data and understand trends in competition, party dominance, and voter </a:t>
            </a:r>
            <a:r>
              <a:rPr lang="en-IN" dirty="0" err="1">
                <a:solidFill>
                  <a:srgbClr val="002060"/>
                </a:solidFill>
              </a:rPr>
              <a:t>behavior</a:t>
            </a:r>
            <a:r>
              <a:rPr lang="en-IN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0293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BC21D7-F10F-3668-0A4D-CAC514B76F0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43983" y="827088"/>
            <a:ext cx="5832475" cy="1952625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en-IN" sz="1800" b="1" u="sng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  <a:latin typeface="Arial Rounded MT Bold" panose="020F0704030504030204" pitchFamily="34" charset="0"/>
              </a:rPr>
              <a:t>TOOLS USED</a:t>
            </a:r>
            <a:br>
              <a:rPr lang="en-IN" sz="16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br>
              <a:rPr lang="en-IN" sz="16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IN" sz="16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PYTHON</a:t>
            </a:r>
            <a:br>
              <a:rPr lang="en-IN" sz="16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IN" sz="16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PANDAS FOR DATA HANDLING</a:t>
            </a:r>
            <a:br>
              <a:rPr lang="en-IN" sz="16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IN" sz="16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MATPLOTLIB / SEABORN / PLOTLY FOR VISUALIZATION</a:t>
            </a:r>
            <a:br>
              <a:rPr lang="en-IN" sz="14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endParaRPr lang="en-IN" sz="1400" b="1" dirty="0">
              <a:solidFill>
                <a:schemeClr val="accent4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89055CF-3EF8-4F38-52E3-68B782D76DB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370505" y="3275013"/>
            <a:ext cx="5799137" cy="2755900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en-IN" sz="1600" b="1" u="sng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  <a:latin typeface="Arial Rounded MT Bold" panose="020F0704030504030204" pitchFamily="34" charset="0"/>
              </a:rPr>
              <a:t>APPROACH</a:t>
            </a:r>
          </a:p>
          <a:p>
            <a:pPr marL="0" indent="0" algn="r">
              <a:buNone/>
            </a:pPr>
            <a:endParaRPr lang="en-IN" sz="1400" b="1" dirty="0">
              <a:solidFill>
                <a:schemeClr val="accent4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 algn="r">
              <a:buNone/>
            </a:pPr>
            <a:r>
              <a:rPr lang="en-IN" sz="14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CLEANED DATASET (MISSING VALUES, FORMATTING)</a:t>
            </a:r>
          </a:p>
          <a:p>
            <a:pPr marL="0" indent="0" algn="r">
              <a:buNone/>
            </a:pPr>
            <a:r>
              <a:rPr lang="en-IN" sz="14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FILTERED RELEVANT YEARS (LIKE 2011, 2016, ETC.)</a:t>
            </a:r>
          </a:p>
          <a:p>
            <a:pPr marL="0" indent="0" algn="r">
              <a:buNone/>
            </a:pPr>
            <a:r>
              <a:rPr lang="en-IN" sz="14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CREATED MULTIPLE VISUALIZATIONS:</a:t>
            </a:r>
          </a:p>
          <a:p>
            <a:pPr marL="457200" lvl="1" indent="0" algn="r">
              <a:buNone/>
            </a:pPr>
            <a:r>
              <a:rPr lang="en-IN" sz="14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TREND CHARTS</a:t>
            </a:r>
          </a:p>
          <a:p>
            <a:pPr marL="457200" lvl="1" indent="0" algn="r">
              <a:buNone/>
            </a:pPr>
            <a:r>
              <a:rPr lang="en-IN" sz="14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COMPARISONS</a:t>
            </a:r>
          </a:p>
          <a:p>
            <a:pPr marL="457200" lvl="1" indent="0" algn="r">
              <a:buNone/>
            </a:pPr>
            <a:r>
              <a:rPr lang="en-IN" sz="14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DISTRIBUTIONS</a:t>
            </a:r>
          </a:p>
        </p:txBody>
      </p:sp>
    </p:spTree>
    <p:extLst>
      <p:ext uri="{BB962C8B-B14F-4D97-AF65-F5344CB8AC3E}">
        <p14:creationId xmlns:p14="http://schemas.microsoft.com/office/powerpoint/2010/main" val="362921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1172" y="438779"/>
            <a:ext cx="6345260" cy="1054599"/>
          </a:xfrm>
        </p:spPr>
        <p:txBody>
          <a:bodyPr/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Closest Elections 2021</a:t>
            </a:r>
            <a:endParaRPr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474" y="1493377"/>
            <a:ext cx="6087979" cy="38712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870A7F-422B-30B3-46C9-C3C0521CECAD}"/>
              </a:ext>
            </a:extLst>
          </p:cNvPr>
          <p:cNvSpPr txBox="1"/>
          <p:nvPr/>
        </p:nvSpPr>
        <p:spPr>
          <a:xfrm>
            <a:off x="1323474" y="5449724"/>
            <a:ext cx="5422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Shows constituencies with smallest winning margins.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These seats had the most competitive contests.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798" y="146785"/>
            <a:ext cx="7886700" cy="525211"/>
          </a:xfrm>
        </p:spPr>
        <p:txBody>
          <a:bodyPr>
            <a:normAutofit fontScale="90000"/>
          </a:bodyPr>
          <a:lstStyle/>
          <a:p>
            <a:pPr algn="ctr"/>
            <a:r>
              <a:rPr lang="en-I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Turnout and Winning margin</a:t>
            </a:r>
            <a:endParaRPr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948" y="821461"/>
            <a:ext cx="5486400" cy="4255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DB015F-8AFA-77A7-CB2E-3906FE0F776F}"/>
              </a:ext>
            </a:extLst>
          </p:cNvPr>
          <p:cNvSpPr txBox="1"/>
          <p:nvPr/>
        </p:nvSpPr>
        <p:spPr>
          <a:xfrm>
            <a:off x="1443789" y="5303259"/>
            <a:ext cx="7006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Shows relationship between voter turnout and winning margin.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No clear pattern suggests turnout has limited impact on margins.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8543"/>
            <a:ext cx="7886700" cy="35676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Winning Margin By Party</a:t>
            </a:r>
            <a:endParaRPr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571BB-6FDE-7600-E454-BEDF817A2F85}"/>
              </a:ext>
            </a:extLst>
          </p:cNvPr>
          <p:cNvSpPr txBox="1"/>
          <p:nvPr/>
        </p:nvSpPr>
        <p:spPr>
          <a:xfrm>
            <a:off x="970816" y="5585307"/>
            <a:ext cx="6161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Shows average winning margin for major parties.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Higher values indicate stronger and more comfortable victories.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658A80-63EB-7624-7CC4-F6D25985D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891" y="748280"/>
            <a:ext cx="5506218" cy="45440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6846"/>
            <a:ext cx="7886700" cy="45302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Party Seat Share- 2021</a:t>
            </a:r>
            <a:endParaRPr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914" y="1022415"/>
            <a:ext cx="4054642" cy="4273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282A15-3558-DF36-1E6C-A7F9DDF98F5E}"/>
              </a:ext>
            </a:extLst>
          </p:cNvPr>
          <p:cNvSpPr txBox="1"/>
          <p:nvPr/>
        </p:nvSpPr>
        <p:spPr>
          <a:xfrm>
            <a:off x="1802588" y="5650394"/>
            <a:ext cx="5538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Shows proportion of seats won by top parties in 2021.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Larger segments indicate stronger political presence.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5922"/>
            <a:ext cx="7886700" cy="54927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Margin Distribution</a:t>
            </a:r>
            <a:endParaRPr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885" y="895061"/>
            <a:ext cx="5486400" cy="44381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C6ED80-04BD-424E-5B6D-E9323EB81490}"/>
              </a:ext>
            </a:extLst>
          </p:cNvPr>
          <p:cNvSpPr txBox="1"/>
          <p:nvPr/>
        </p:nvSpPr>
        <p:spPr>
          <a:xfrm>
            <a:off x="1074558" y="5651672"/>
            <a:ext cx="5972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Shows how winning margins are spread across constituencies.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Most values in lower range indicate moderate competition.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1087"/>
            <a:ext cx="7886700" cy="56130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Gender of Winners</a:t>
            </a:r>
            <a:endParaRPr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434" y="1241201"/>
            <a:ext cx="5486400" cy="43755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BFD1EA-F276-7699-AD45-B0AE60F6A53E}"/>
              </a:ext>
            </a:extLst>
          </p:cNvPr>
          <p:cNvSpPr txBox="1"/>
          <p:nvPr/>
        </p:nvSpPr>
        <p:spPr>
          <a:xfrm>
            <a:off x="2472586" y="5730584"/>
            <a:ext cx="42846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Shows distribution of winners by gender.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Highlights imbalance in representation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53833"/>
            <a:ext cx="7886700" cy="53724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Party Wins (Year Wise)</a:t>
            </a:r>
            <a:endParaRPr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53151-4A9C-20D6-5068-CFF13A5995D3}"/>
              </a:ext>
            </a:extLst>
          </p:cNvPr>
          <p:cNvSpPr txBox="1"/>
          <p:nvPr/>
        </p:nvSpPr>
        <p:spPr>
          <a:xfrm>
            <a:off x="1516177" y="5389663"/>
            <a:ext cx="55503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Compares seats won by top parties across election years.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compare party performance across 2011, 2016, and 2021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Highlights consistency and shifts in party dominance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FADAFF-EB69-1448-47BE-AE7DA73F4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074" y="892259"/>
            <a:ext cx="5915851" cy="4401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839" y="140506"/>
            <a:ext cx="6842565" cy="709865"/>
          </a:xfrm>
        </p:spPr>
        <p:txBody>
          <a:bodyPr/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Age Distribution of Winners</a:t>
            </a:r>
            <a:endParaRPr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055" y="1267945"/>
            <a:ext cx="5486400" cy="44381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D4DC71-28CE-3296-FF7D-811CFDEFB094}"/>
              </a:ext>
            </a:extLst>
          </p:cNvPr>
          <p:cNvSpPr txBox="1"/>
          <p:nvPr/>
        </p:nvSpPr>
        <p:spPr>
          <a:xfrm>
            <a:off x="1978700" y="5765781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Shows age range of winning candidates.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2060"/>
                </a:solidFill>
              </a:rPr>
              <a:t>Most winners fall within a specific middle age group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640" y="160213"/>
            <a:ext cx="7886700" cy="683168"/>
          </a:xfrm>
        </p:spPr>
        <p:txBody>
          <a:bodyPr>
            <a:normAutofit/>
          </a:bodyPr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Election Trend Over Time</a:t>
            </a:r>
            <a:endParaRPr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049" y="970007"/>
            <a:ext cx="5486400" cy="4186992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B099EF3F-673A-B810-087A-94949D8C1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6237" y="5471792"/>
            <a:ext cx="72670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Shows how values change across election years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Helps identify increasing or decreasing trends over time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729"/>
            <a:ext cx="7886700" cy="58536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Candidates per Constituency</a:t>
            </a:r>
            <a:endParaRPr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4B96AF-F6C0-4619-AE4F-E8B8F2D0A4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640" y="715592"/>
            <a:ext cx="7886700" cy="37779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F4DC58-4CFF-B578-6689-F031F1F2D4FB}"/>
              </a:ext>
            </a:extLst>
          </p:cNvPr>
          <p:cNvSpPr txBox="1"/>
          <p:nvPr/>
        </p:nvSpPr>
        <p:spPr>
          <a:xfrm>
            <a:off x="1139640" y="5014719"/>
            <a:ext cx="67441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2060"/>
                </a:solidFill>
              </a:rPr>
              <a:t>Shows how many candidates contest in each seat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2060"/>
                </a:solidFill>
              </a:rPr>
              <a:t>Higher numbers indicate more competition.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593" y="751973"/>
            <a:ext cx="7886700" cy="830180"/>
          </a:xfrm>
        </p:spPr>
        <p:txBody>
          <a:bodyPr/>
          <a:lstStyle/>
          <a:p>
            <a:pPr algn="ctr"/>
            <a:r>
              <a:rPr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3A1520-C7FE-7252-1941-0A8037CCE7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3381" y="1835053"/>
            <a:ext cx="7167347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Elections show moderate competition with several close contests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 few parties consistently dominate across years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Turnout has limited effect on winning margins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Competition varies across constituencies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1500</TotalTime>
  <Words>347</Words>
  <Application>Microsoft Office PowerPoint</Application>
  <PresentationFormat>On-screen Show (4:3)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Rounded MT Bold</vt:lpstr>
      <vt:lpstr>Century Gothic</vt:lpstr>
      <vt:lpstr>Times New Roman</vt:lpstr>
      <vt:lpstr>Wingdings</vt:lpstr>
      <vt:lpstr>Wingdings 3</vt:lpstr>
      <vt:lpstr>Wisp</vt:lpstr>
      <vt:lpstr>Electoral Trends Analysis</vt:lpstr>
      <vt:lpstr>project overview – electoral trends analysis </vt:lpstr>
      <vt:lpstr>TOOLS USED  PYTHON PANDAS FOR DATA HANDLING MATPLOTLIB / SEABORN / PLOTLY FOR VISUALIZATION </vt:lpstr>
      <vt:lpstr>Closest Elections 2021</vt:lpstr>
      <vt:lpstr>Turnout and Winning margin</vt:lpstr>
      <vt:lpstr>Winning Margin By Party</vt:lpstr>
      <vt:lpstr>Party Seat Share- 2021</vt:lpstr>
      <vt:lpstr>Margin Distribution</vt:lpstr>
      <vt:lpstr>Gender of Winners</vt:lpstr>
      <vt:lpstr>Party Wins (Year Wise)</vt:lpstr>
      <vt:lpstr>Age Distribution of Winners</vt:lpstr>
      <vt:lpstr>Election Trend Over Time</vt:lpstr>
      <vt:lpstr>Candidates per Constituency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Saneesh kg</cp:lastModifiedBy>
  <cp:revision>24</cp:revision>
  <dcterms:created xsi:type="dcterms:W3CDTF">2013-01-27T09:14:16Z</dcterms:created>
  <dcterms:modified xsi:type="dcterms:W3CDTF">2026-04-02T11:10:18Z</dcterms:modified>
  <cp:category/>
</cp:coreProperties>
</file>